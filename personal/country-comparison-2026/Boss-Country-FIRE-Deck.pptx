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Years to FIRE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Vietnam (HCM/Da Nang)</c:v>
                  </c:pt>
                  <c:pt idx="1">
                    <c:v>Philippines (Boracay)</c:v>
                  </c:pt>
                  <c:pt idx="2">
                    <c:v>Taiwan (Taichung)</c:v>
                  </c:pt>
                  <c:pt idx="3">
                    <c:v>Indonesia (Bali)</c:v>
                  </c:pt>
                  <c:pt idx="4">
                    <c:v>Thailand (Bangkok)</c:v>
                  </c:pt>
                  <c:pt idx="5">
                    <c:v>China (Shanghai)</c:v>
                  </c:pt>
                  <c:pt idx="6">
                    <c:v>Japan (Tokyo)</c:v>
                  </c:pt>
                  <c:pt idx="7">
                    <c:v>US (Massachusetts)</c:v>
                  </c:pt>
                  <c:pt idx="8">
                    <c:v>Singapore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12</c:v>
                </c:pt>
                <c:pt idx="2">
                  <c:v>13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15</c:v>
                </c:pt>
                <c:pt idx="7">
                  <c:v>17</c:v>
                </c:pt>
                <c:pt idx="8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FIRE Number</c:v>
                </c:pt>
              </c:strCache>
            </c:strRef>
          </c:tx>
          <c:spPr>
            <a:solidFill>
              <a:srgbClr val="E8B43A"/>
            </a:solidFill>
            <a:effectLst/>
          </c:spPr>
          <c:invertIfNegative val="0"/>
          <c:dLbls>
            <c:numFmt formatCode="&quot;$&quot;0.00&quot;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Vietnam (HCM/Da Nang)</c:v>
                  </c:pt>
                  <c:pt idx="1">
                    <c:v>Philippines (Boracay)</c:v>
                  </c:pt>
                  <c:pt idx="2">
                    <c:v>Taiwan (Taichung)</c:v>
                  </c:pt>
                  <c:pt idx="3">
                    <c:v>Indonesia (Bali)</c:v>
                  </c:pt>
                  <c:pt idx="4">
                    <c:v>Thailand (Bangkok)</c:v>
                  </c:pt>
                  <c:pt idx="5">
                    <c:v>China (Shanghai)</c:v>
                  </c:pt>
                  <c:pt idx="6">
                    <c:v>Japan (Tokyo)</c:v>
                  </c:pt>
                  <c:pt idx="7">
                    <c:v>US (Massachusetts)</c:v>
                  </c:pt>
                  <c:pt idx="8">
                    <c:v>Singapore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</c:v>
                </c:pt>
                <c:pt idx="1">
                  <c:v>0.75</c:v>
                </c:pt>
                <c:pt idx="2">
                  <c:v>1.05</c:v>
                </c:pt>
                <c:pt idx="3">
                  <c:v>1.05</c:v>
                </c:pt>
                <c:pt idx="4">
                  <c:v>1.35</c:v>
                </c:pt>
                <c:pt idx="5">
                  <c:v>1.65</c:v>
                </c:pt>
                <c:pt idx="6">
                  <c:v>1.65</c:v>
                </c:pt>
                <c:pt idx="7">
                  <c:v>2.4</c:v>
                </c:pt>
                <c:pt idx="8">
                  <c:v>3</c:v>
                </c:pt>
              </c:numCache>
            </c:numRef>
          </c:val>
        </c:ser>
        <c:dLbls>
          <c:numFmt formatCode="&quot;$&quot;0.00&quot;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&quot;$&quot;0.0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FIRE: 9 Countries.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· cost-of-living · visa pathways for an early retirement abroad.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5486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74720" y="5486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to 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$473k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17920" y="5486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$43k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961120" y="5486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Lexi · 2026-05-05 · Built on FIRE-Dashboard.html calc engine + 2026 visa research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bottom 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and the Philippines unlock retirement in 12 years; Singapore takes 19 — and won't even let you stay.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657600" cy="4114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737360"/>
            <a:ext cx="3657600" cy="13716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/ Philippines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337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731520" y="4572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from today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657600" cy="4114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657600" cy="13716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Taiwan, Bali, Thailand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3337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55-56</a:t>
            </a:r>
            <a:endParaRPr lang="en-US" sz="8000" dirty="0"/>
          </a:p>
        </p:txBody>
      </p:sp>
      <p:sp>
        <p:nvSpPr>
          <p:cNvPr id="18" name="Text 16"/>
          <p:cNvSpPr/>
          <p:nvPr/>
        </p:nvSpPr>
        <p:spPr>
          <a:xfrm>
            <a:off x="4572000" y="4572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13-14 years · sweet spot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38160" y="1737360"/>
            <a:ext cx="3657600" cy="4114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1737360"/>
            <a:ext cx="3657600" cy="13716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3337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</a:t>
            </a:r>
            <a:endParaRPr lang="en-US" sz="8000" dirty="0"/>
          </a:p>
        </p:txBody>
      </p:sp>
      <p:sp>
        <p:nvSpPr>
          <p:cNvPr id="25" name="Text 23"/>
          <p:cNvSpPr/>
          <p:nvPr/>
        </p:nvSpPr>
        <p:spPr>
          <a:xfrm>
            <a:off x="8412480" y="4572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years · no retirement visa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assume Boss's current portfolio ($473k), savings rate ($42.6k/yr), and an upper-middle-class lifestyle in each location.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Years to FIRE — ranked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bar = earlier retirement. SAFE mode (2× spend buffer at 60, 3× at 67).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FIRE number — by country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rule: nest egg you need to fund the lifestyle perpetually (annual spend × 25).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9 countries at a glance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years to FIRE. End balance is in TODAY's purchasing power. Visa column shows ease tier.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11430000" cy="45720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1005840"/>
                <a:gridCol w="731520"/>
                <a:gridCol w="822960"/>
                <a:gridCol w="1097280"/>
                <a:gridCol w="1097280"/>
                <a:gridCol w="10972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 / 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 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(4% rule)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Difficulty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Visa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Vietnam (HCM/Da Nang)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 investor / e-visa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Philippines (Boracay)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9F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SRRV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(Taichung)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 citizen (no visa)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 (Bali, Ubud)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Easy-Medium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Retirement KITAS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 (Bangkok)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9F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LTR (10-yr)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 (Shanghai)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9F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Compatriot Pass (台胞證)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(Tokyo)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Designated Act / Biz Mgr / 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(Massachusetts/Boston metro)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Citizen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$1.17M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GIP (S$10M)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FIRE Calculator calc engine (calc/fireCalculator.js#solveFireAge) + 2026 visa research. Today: 2026-05-05.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Visa difficulty — tier 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country sits on the "can Boss actually live there?" spectrum. Math is necessary; visa is sufficient.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64592" cy="1197864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A9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 — NO VISA NEEDED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691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Boss's citizenship + Compatriot Pass make these countries effectively his home turf.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0" y="20574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is a Taiwanese citizen — no visa, NHI from day one (after 6-mo residency)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350008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08760" y="23500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23500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Compatriot Pass (台胞證) — 5-yr permit, indefinite stay since 2017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2642616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08760" y="26426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264261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is a US citizen — no action needed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26664"/>
            <a:ext cx="164592" cy="905256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0266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EASY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302666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retirement visas. Walk-in friendly for Boss's asset profile.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3392424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08760" y="33924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3924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LTR Wealthy Pensioner / Global Citizen — 10-yr, foreign-income tax exempt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68680" y="3685032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08760" y="3685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0" y="368503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SRRV — $10k deposit (50+), permanent stay, 20-30 day approval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069080"/>
            <a:ext cx="164592" cy="612648"/>
          </a:xfrm>
          <a:prstGeom prst="rect">
            <a:avLst/>
          </a:prstGeom>
          <a:solidFill>
            <a:srgbClr val="8BC34A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069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EASY-MEDIUM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0" y="4069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exists but has friction. Plan ahead, jump on age window.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" y="4434840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508760" y="4434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0" y="44348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KITAS at 55+ → Silver Hair at 60+ → KITAP at ~65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818888"/>
            <a:ext cx="164592" cy="612648"/>
          </a:xfrm>
          <a:prstGeom prst="rect">
            <a:avLst/>
          </a:prstGeom>
          <a:solidFill>
            <a:srgbClr val="F0B400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MEDIUM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48188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visa, but workable workarounds (investor / rolling extensions).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8680" y="5184648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508760" y="5184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0" y="51846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 investor visa OR rolling 90-day e-visa with extensions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568696"/>
            <a:ext cx="164592" cy="905256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55686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5 — VERY HARD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0" y="5568696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realistic retirement pathway for Boss's profile. Hybrid plan recommended.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68680" y="5934456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508760" y="5934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0" y="593445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 · Biz Mgr (Oct 2025: ¥30M + JP hire) · Hybrid &lt;180 days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68680" y="6227064"/>
            <a:ext cx="548640" cy="256032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508760" y="6227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0" y="622706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 · GIP requires S$10M (~$7.5M USD) — out of reach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Vietnam (HCM/Da Nang)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F0B400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MEDIUM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$900k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$601k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$1.01M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$937k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$2.09M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 investor visa OR rolling e-visa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 exists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paths. Realistic FIRE path: rolling e-visa with extensions (~18 months feasible before border run needed). Stable path: DT investor visa via setting up a small Vietnamese entity (consulting/services) with $50-100k seed capital — gives you a TRC.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Philippines (Boracay)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EASY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$750k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$1.00M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$1.06M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$1.05M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$1.74M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SRRV (Special Resident Retiree's Visa)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retirement residency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visa fit in the lineup. Process is 20-30 working days. Deposit returns to you when you exit. The SRRV is what the Philippines designed FOR fire-retirees like Boss.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Taiwan (Taichung)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BDBDBD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N/A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$1.05M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$711k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$1.11M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$1.02M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$2.44M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— Taiwanese citizen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visa needed · NHI from day one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is the simplest landing zone in the lineup. Boss can move whenever. Mandarin native. Family network. NHI provides world-class healthcare at ~$30/mo per person. No tax-residency complications until 183+ days/yr (worldwide income tax kicks in then — careful structuring on US-source investments needed via TW CPA).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Indonesia (Bali, Ubud)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8BC34A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EASY-MEDIUM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$1.05M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$711k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$1.11M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$1.02M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$2.44M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KITAS (E33F) → Silver Hair (E33E) at 60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Age-55 retirement visa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FIRE departure for age 55 EXACTLY to drop into the E33F lane. Renew yearly for 5 yrs → upgrade to E33E Silver Hair (no sponsor) at 60 → KITAP (PR) after another 5 yrs of KITAS continuity at age ~65.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Thailand (Bangkok)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EASY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$54k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$1.35M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$465k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$1.18M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$1.02M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$3.13M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LTR Wealthy Pensioner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visa, foreign-income tax exempt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LTR Wealthy Global Citizen at FIRE (when net worth &gt; $1M, easily met by year 10-12). Or LTR Wealthy Pensioner if going at $80k+/yr spend in TH. Foreign-sourced income blanket exemption is the killer benefit.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 (Shanghai)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EASY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$66k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$1.65M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$696k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$1.38M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$1.18M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$3.83M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Compatriot Pass (台胞證)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permit, indefinite stay since 2017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Boss's Taiwan citizenship is the key — China is suddenly accessible. Use 台胞證 for indefinite stays in Shanghai or any tier-1 city. Mandarin native. Banking and daily life are friction-free. Visa worry essentially eliminated.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Japan (Tokyo)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VERY HARD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$66k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$1.65M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$696k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$1.38M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$1.18M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$3.83M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Activities OR Business Manager (Oct 2025 reform) OR Hybrid &lt;180 days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 exists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viable paths post Oct 2025: (A) DESIGNATED ACTIVITIES — apply with $10M+ asset dossier and immigration lawyer (~$10-15k legal fees). Discretionary but highest-quality outcome. (B) BUSINESS MANAGER (the new hard mode) — set up a kabushiki-kaisha (KK), inject ¥30M capital, hire one Japanese citizen/PR full-time (typical salary ¥3-5M/yr ≈ $20-33k), get the JLPT N2 OR hire someone who has it, get an SME advisor to bless the business plan. Total Year 1 cost: ~$200k capital + $25-35k salary + $10k professional fees = $235-245k upfront. The visa is then renewable as long as the business runs. (C) HYBRID — see Hybrid Plan slide. Stay &lt;180 days/yr in Japan (visa-free 90-day stints), avoid tax residency, base in Taiwan or another country. Best ROI for Boss's profile.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 (Massachusetts/Boston metro)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BDBDBD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N/A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$96k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$2.40M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$1.03M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$1.81M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$1.51M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$5.57M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— US citizen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visa needed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where you are. Healthcare via ACA pre-65, Medicare 65+. The simplest path on paper, but the most expensive on cost.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640080" cy="640080"/>
          </a:xfrm>
          <a:prstGeom prst="ellipse">
            <a:avLst/>
          </a:prstGeom>
          <a:solidFill>
            <a:srgbClr val="E8B43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Singapore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0" y="411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VISA: VERY HARD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14300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years from today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14300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SPEND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628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2628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143000"/>
            <a:ext cx="36576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143000"/>
            <a:ext cx="91440" cy="13716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NUMBER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6760" y="1481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$3.00M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(annual × 25)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PROJECTION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age 100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$1.17M (today's $)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60 (401k unlock)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$2.24M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@ 67 (SS claim)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0142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$1.88M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398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spend (42–100)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398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$6.96M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Relocation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one-time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5486400" cy="3383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PATHWAY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Investor Programme (S$10M)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retirement visa exists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00800" y="4572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$1M-$3M FIRE retiree, Singapore is structurally inaccessible. GIP threshold is 7-10× Boss's likely FIRE net worth. Without family ties or active business, the only realistic Singapore exposure is rolling 90-day social visit passes — fine for vacations, not for retirement.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engine: SAFE mode · 7% nominal · 3% inflation · plan to age 100 · SS at 67    |    Visa source: official immigration sites + 2026-05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Lexi's recommendation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Time-to-FIRE × visa accessibility × quality of life. The Pareto frontier.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657600" cy="4572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737360"/>
            <a:ext cx="3657600" cy="4572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FIRE FAST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(Taichung)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yrs to FIRE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 advantage · NHI gold-standard · Gold Card pathway → APRC · safe · world-class food. Pre-stage $160k in TW bank for APRC. The most rational pick.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657600" cy="4572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737360"/>
            <a:ext cx="3657600" cy="4572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13" name="Text 11"/>
          <p:cNvSpPr/>
          <p:nvPr/>
        </p:nvSpPr>
        <p:spPr>
          <a:xfrm>
            <a:off x="44805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LIFE UPGRADE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 (Ubud)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2628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yrs to FIRE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3611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FIRE math as Taiwan, totally different life. Villa + pool · weekly massage · global wellness. Time FIRE for age 55 to drop into E33F retirement KITAS.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1737360"/>
            <a:ext cx="3657600" cy="4572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1737360"/>
            <a:ext cx="3657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MUST STAY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(Massachusetts)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6676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yrs to FIRE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66760" y="3611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4 yrs vs. Taiwan. Cost: extra $42k–$54k saved per year. Reward: family stays close, no visa friction, Medicare at 65.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Boss: Taiwan + an annual Bali sabbatical. 13-yr FIRE math + Gold Card → APRC + a tropical reset every year. Best of both.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Japan Business Manager visa — Oct 2025 reform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changed, what it costs, and why hybrid is the smarter play.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1554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(pre-Oct 2025)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40880" y="1554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(Oct 16, 2025)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070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1124712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capital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¥5M (~$33k USD)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¥30M (~$200k USD)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0704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11247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hire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(or capital substitute)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468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hire 1 full-time JP citizen / PR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0704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1124712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language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OR hire = JLPT N2 (B2)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607040" y="2926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 experience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74720" y="3383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3383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yrs OR master's/doctoral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607040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 review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Self-prepared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SME advisor / CPA review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607040" y="3840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297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UPFRONT COST FOR BOSS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injection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297680" y="4663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~$200k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salary (Year 1)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297680" y="4983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~$25-35k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advisor + lawyer fees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297680" y="5303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KK setup / annual filing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297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~$3k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5989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1 total: ~$235-245k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217920" y="4206240"/>
            <a:ext cx="548640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7920" y="4206240"/>
            <a:ext cx="91440" cy="219456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4297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LEXI'S VERDICT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00800" y="4663440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Manager is now a real-business commitment, not a visa workaround. You'd be running a Japanese KK with a Japanese employee — that's not "retirement". For pure retirement intent, the hybrid &lt;180 days play (next slide) is dramatically better ROI.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Japan MOJ amended requirements, effective Oct 16, 2025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plan — split your year, beat the visa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&lt;180 days/yr each = no tax residency anywhere. Visa-free or simple long-stay in both bases.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657600" cy="47548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BOSS'S BEST FIT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⇄ Taiwan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8580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from today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$57k / yr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$5k/mo blended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visa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4572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 citizen — no visa, NHI access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to JP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hrs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5212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$1.29M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5577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 native + Japanese exposure. Two food-superpower cultures, both safe, both easy.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1554480"/>
            <a:ext cx="3657600" cy="47548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0" y="1554480"/>
            <a:ext cx="3657600" cy="4572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STRETCH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⇄ Thailand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26280" y="26974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57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452628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from today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2628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 / yr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2628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$5k/mo blended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visa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80760" y="4572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LTR Wealthy Pensioner ($80k passive)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26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to JP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8076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6280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100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80760" y="5212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$1.09M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26280" y="5577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/ urban contrast. Bumrungrad healthcare. LTR's foreign-income tax exemption is huge.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138160" y="1554480"/>
            <a:ext cx="3657600" cy="47548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8160" y="1554480"/>
            <a:ext cx="3657600" cy="457200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7" name="Text 35"/>
          <p:cNvSpPr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667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⇄ Philippines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66760" y="26974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56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83667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years from today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6676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 / yr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36676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$4k/mo blended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66760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visa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921240" y="4572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SRRV ($10k deposit at 50+)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667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to JP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92124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66760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balance @ 100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21240" y="5212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$678k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66760" y="5577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English-speaking beach base. Cheapest hybrid → fastest FIRE.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math: 6 mo each + 2-3 round-trip flights/yr. Spend = sum of pro-rated country annual budgets + ~$3k transit.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save-by target — per country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"how much": conservative 4% rule (no SS), what the calc engine actually needs (with SS), and the nominal Book Value your broker statement will show on FIRE day.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83080"/>
          <a:ext cx="11430000" cy="4206240"/>
        </p:xfrm>
        <a:graphic>
          <a:graphicData uri="http://schemas.openxmlformats.org/drawingml/2006/table">
            <a:tbl>
              <a:tblPr/>
              <a:tblGrid>
                <a:gridCol w="3200400"/>
                <a:gridCol w="822960"/>
                <a:gridCol w="1188720"/>
                <a:gridCol w="1554480"/>
                <a:gridCol w="1554480"/>
                <a:gridCol w="182880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 /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(conservative)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(real 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 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FIRE day (nominal)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Cushion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4% 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(Massachusetts)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$3.06M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(Taichung)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$2.21M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 (Bangkok)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$1.52M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 (Shanghai)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Vietnam (HCM/Da Nang)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$1.99M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Philippines (Boracay)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 (Bali, Ubud)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$2.21M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(Tokyo)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$2.18M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Japan + Taiwan 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$1.64M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Japan + Thailand 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$1.63M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$2.54M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Japan + Philippines 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$1.27M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$1.52M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B69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D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ⓗ = hybrid plan · "Cushion" = how much over (or under) the conservative 4%-rule target the calc engine projects you'll have at FIRE day. Positive = saving more than strictly needed (good cushion). Negative = below 4% rule but feasible because Social Security kicks in at 67.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Save-by ladder — what each milestone unlocks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Boss's portfolio grows, more retirement options unlock. Each rung shows the age, real $, and what becomes feasible.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280160" cy="594360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42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(2026)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$473k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(today's starting position)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31720"/>
            <a:ext cx="1280160" cy="5943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49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624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(2033)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840480" y="2331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5+ yrs from any FIRE option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71800"/>
            <a:ext cx="1280160" cy="59436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71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264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(2037)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0" y="2971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$1.40M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84048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Vietnam · Philippines unlock (FIRE @ 54)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611880"/>
            <a:ext cx="1280160" cy="59436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611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39044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(2039)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2880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$1.62M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84048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Taiwan · Indonesia (Bali) unlock (FIRE @ 55)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unlocks (FIRE @ 56)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062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251960"/>
            <a:ext cx="1280160" cy="59436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251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4544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(2041)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42519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B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$1.85M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84048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China · Japan unlock (FIRE @ 57)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840480" y="44988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Hybrid plans unlock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484632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4892040"/>
            <a:ext cx="1280160" cy="59436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8920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59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" y="5184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(2043)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28800" y="4892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9F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$2.10M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3840480" y="4892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US (Massachusetts) unlocks (FIRE @ 59)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548640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5532120"/>
            <a:ext cx="1280160" cy="59436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532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57200" y="5824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(2045)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828800" y="55321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4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$2.18M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840480" y="5532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Singapore feasible by calc — but visa GIP needs S$10M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840480" y="57790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out of reach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based on Boss's baseline contributions ($42.6k/yr) at 4% real return. Country-independent during accumulation phase.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hybrid — when to be where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summer (Apr-Sep) for hanami + greenery + autumn run-up. Tropical winter (Oct-Mar) for dry-season beach life. No tax residency anywhere.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944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944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6898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898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0624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435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435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1802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802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5528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9254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9254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298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298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670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670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— Japan + Philippines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68980" y="2468880"/>
            <a:ext cx="5623560" cy="411480"/>
          </a:xfrm>
          <a:prstGeom prst="rect">
            <a:avLst/>
          </a:prstGeom>
          <a:solidFill>
            <a:srgbClr val="B6D7E8"/>
          </a:solidFill>
          <a:ln/>
        </p:spPr>
      </p:sp>
      <p:sp>
        <p:nvSpPr>
          <p:cNvPr id="31" name="Text 29"/>
          <p:cNvSpPr/>
          <p:nvPr/>
        </p:nvSpPr>
        <p:spPr>
          <a:xfrm>
            <a:off x="3268980" y="2468880"/>
            <a:ext cx="5623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(peak season - hanami, summer, early autumn)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92540" y="2468880"/>
            <a:ext cx="2811780" cy="41148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57200" y="2468880"/>
            <a:ext cx="2811780" cy="41148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34" name="Text 32"/>
          <p:cNvSpPr/>
          <p:nvPr/>
        </p:nvSpPr>
        <p:spPr>
          <a:xfrm>
            <a:off x="8892540" y="246888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246888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2926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dry season Dec-May - weather sync EXCELLENT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- Japan + Thailand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268980" y="3520440"/>
            <a:ext cx="5623560" cy="411480"/>
          </a:xfrm>
          <a:prstGeom prst="rect">
            <a:avLst/>
          </a:prstGeom>
          <a:solidFill>
            <a:srgbClr val="B6D7E8"/>
          </a:solidFill>
          <a:ln/>
        </p:spPr>
      </p:sp>
      <p:sp>
        <p:nvSpPr>
          <p:cNvPr id="39" name="Text 37"/>
          <p:cNvSpPr/>
          <p:nvPr/>
        </p:nvSpPr>
        <p:spPr>
          <a:xfrm>
            <a:off x="3268980" y="3520440"/>
            <a:ext cx="5623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(peak season)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92540" y="3520440"/>
            <a:ext cx="2811780" cy="41148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200" y="3520440"/>
            <a:ext cx="2811780" cy="41148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42" name="Text 40"/>
          <p:cNvSpPr/>
          <p:nvPr/>
        </p:nvSpPr>
        <p:spPr>
          <a:xfrm>
            <a:off x="8892540" y="352044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352044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" y="3977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 dry season Nov-Apr - weather sync EXCELLENT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 - Japan + Bali  (WEATHER MISMATCH)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268980" y="4572000"/>
            <a:ext cx="5623560" cy="411480"/>
          </a:xfrm>
          <a:prstGeom prst="rect">
            <a:avLst/>
          </a:prstGeom>
          <a:solidFill>
            <a:srgbClr val="B6D7E8"/>
          </a:solidFill>
          <a:ln/>
        </p:spPr>
      </p:sp>
      <p:sp>
        <p:nvSpPr>
          <p:cNvPr id="47" name="Text 45"/>
          <p:cNvSpPr/>
          <p:nvPr/>
        </p:nvSpPr>
        <p:spPr>
          <a:xfrm>
            <a:off x="3268980" y="4572000"/>
            <a:ext cx="5623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(peak season)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92540" y="4572000"/>
            <a:ext cx="2811780" cy="411480"/>
          </a:xfrm>
          <a:prstGeom prst="rect">
            <a:avLst/>
          </a:prstGeom>
          <a:solidFill>
            <a:srgbClr val="E8B4B4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4572000"/>
            <a:ext cx="2811780" cy="411480"/>
          </a:xfrm>
          <a:prstGeom prst="rect">
            <a:avLst/>
          </a:prstGeom>
          <a:solidFill>
            <a:srgbClr val="E8B4B4"/>
          </a:solidFill>
          <a:ln/>
        </p:spPr>
      </p:sp>
      <p:sp>
        <p:nvSpPr>
          <p:cNvPr id="50" name="Text 48"/>
          <p:cNvSpPr/>
          <p:nvPr/>
        </p:nvSpPr>
        <p:spPr>
          <a:xfrm>
            <a:off x="8892540" y="457200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 (WET season!)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4572000"/>
            <a:ext cx="28117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 (WET season!)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 wet season is Nov-Apr - daily rain, traffic chaos, mosquitoes. Bali's DRY season (May-Oct) overlaps Japan's peak. Inverse-pair only.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LEXI'S CALL: Plan A (Japan + Philippines) wins on cost ($51k), FIRE age (56), flight time (4 hr), language (English official), and weather sync (PH dry season Dec-May aligns perfectly with Japan winter escape).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Japan tourism climate data - Tourism Authority of Thailand - Philippines DOT - Bali Tourism Board.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timing — Apr 15 / Oct 15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transitions per year, both in shoulder seasons. 183 days each base, just under tax-residency threshold. Peak weather both ends.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944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944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6898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898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0624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435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435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1802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802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5528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9254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9254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2980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2980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67060" y="1783080"/>
            <a:ext cx="937260" cy="4572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67060" y="1783080"/>
            <a:ext cx="93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331720"/>
            <a:ext cx="3280410" cy="45720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2331720"/>
            <a:ext cx="3280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 Boracay  (peak dry season)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737610" y="2331720"/>
            <a:ext cx="5623560" cy="457200"/>
          </a:xfrm>
          <a:prstGeom prst="rect">
            <a:avLst/>
          </a:prstGeom>
          <a:solidFill>
            <a:srgbClr val="B6D7E8"/>
          </a:solidFill>
          <a:ln/>
        </p:spPr>
      </p:sp>
      <p:sp>
        <p:nvSpPr>
          <p:cNvPr id="32" name="Text 30"/>
          <p:cNvSpPr/>
          <p:nvPr/>
        </p:nvSpPr>
        <p:spPr>
          <a:xfrm>
            <a:off x="3737610" y="2331720"/>
            <a:ext cx="562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Japan  (hanami late, summer, autumn finale)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61170" y="2331720"/>
            <a:ext cx="2343150" cy="457200"/>
          </a:xfrm>
          <a:prstGeom prst="rect">
            <a:avLst/>
          </a:prstGeom>
          <a:solidFill>
            <a:srgbClr val="F4D7A0"/>
          </a:solidFill>
          <a:ln/>
        </p:spPr>
      </p:sp>
      <p:sp>
        <p:nvSpPr>
          <p:cNvPr id="34" name="Text 32"/>
          <p:cNvSpPr/>
          <p:nvPr/>
        </p:nvSpPr>
        <p:spPr>
          <a:xfrm>
            <a:off x="9361170" y="2331720"/>
            <a:ext cx="2343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 Boracay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18897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Apr 15 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8125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Oct 15 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154680"/>
            <a:ext cx="54864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8" name="Shape 36"/>
          <p:cNvSpPr/>
          <p:nvPr/>
        </p:nvSpPr>
        <p:spPr>
          <a:xfrm>
            <a:off x="457200" y="315468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COMPLIANCE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611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days each base = just under the 184-day worldwide-income tax residency threshold in both Japan and Philippines. No surprise tax bill in either country. Stay clean.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154680"/>
            <a:ext cx="54864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0" y="315468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43" name="Text 41"/>
          <p:cNvSpPr/>
          <p:nvPr/>
        </p:nvSpPr>
        <p:spPr>
          <a:xfrm>
            <a:off x="644652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FLIGHTS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46520" y="3611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Mid-April and mid-October are airline shoulder seasons. Manila↔Tokyo runs $300-450 RT vs $700-1,000 during summer or CNY peak. ~$1k/yr saved on flight timing alone.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663440"/>
            <a:ext cx="54864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6" name="Shape 44"/>
          <p:cNvSpPr/>
          <p:nvPr/>
        </p:nvSpPr>
        <p:spPr>
          <a:xfrm>
            <a:off x="457200" y="466344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47" name="Text 45"/>
          <p:cNvSpPr/>
          <p:nvPr/>
        </p:nvSpPr>
        <p:spPr>
          <a:xfrm>
            <a:off x="685800" y="4754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PEAK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85800" y="51206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15 arrival catches late hanami (Tohoku / Hokkaido cherry blossoms peak mid-April to early May). Oct 14 departure catches autumn foliage finale in Kyoto/Nara — one of Japan's most photographed weeks.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217920" y="4663440"/>
            <a:ext cx="5486400" cy="13716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0" y="4663440"/>
            <a:ext cx="91440" cy="13716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51" name="Text 49"/>
          <p:cNvSpPr/>
          <p:nvPr/>
        </p:nvSpPr>
        <p:spPr>
          <a:xfrm>
            <a:off x="6446520" y="4754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BORACAY PEAK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446520" y="51206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15 arrival skips typhoon-tail risk (peak Pacific typhoon season is Aug-Oct). Apr 14 departure catches end of dry season before May humidity surge. Full 6 months of peak Amihan weather.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dates are a target, not a contract. Slide ±2 weeks based on weather, family events, or how you're feeling. The structure stays — the calendar flexes.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Tropical hybrid - head-to-head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tropical winter bases, paired with a Japan summer. Same calc engine, different trade-offs.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BOSS'S BEST FIT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 (Boracay)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yrs - $51k/yr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657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8587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SRRV - easiest in Asia ($10k deposit, 20-30 day approval)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4114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4315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 Tokyo to Manila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47731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Dec-May dry season - PERFECT sync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52303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(official)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54864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56875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Manila/Cebu private hospitals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5989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Cheapest, fastest FIRE, easiest visa, English, perfect weather sync.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9768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4297680" y="1554480"/>
            <a:ext cx="3657600" cy="4572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URBAN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262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(Bangkok / Phuket)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2628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57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yrs - $60k/yr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3657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38587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LTR Wealthy Pensioner - 10-yr, foreign-income tax exempt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26280" y="4114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4315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hrs Tokyo to Bangkok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6280" y="45720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47731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Nov-Apr dry season - PERFECT sync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26280" y="50292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26280" y="52303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(English in expat zones)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26280" y="54864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26280" y="56875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Bumrungrad/BNH world-class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26280" y="5989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healthcare in Asia. Bangkok urban + Phuket beach. LTR foreign-income tax exempt.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3816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38160" y="1554480"/>
            <a:ext cx="3657600" cy="457200"/>
          </a:xfrm>
          <a:prstGeom prst="rect">
            <a:avLst/>
          </a:prstGeom>
          <a:solidFill>
            <a:srgbClr val="C04B4B"/>
          </a:solidFill>
          <a:ln/>
        </p:spPr>
      </p:sp>
      <p:sp>
        <p:nvSpPr>
          <p:cNvPr id="41" name="Text 39"/>
          <p:cNvSpPr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MISMATCH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3667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(Bali)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36676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 57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8366760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yrs - $57k/yr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366760" y="3657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366760" y="38587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KITAS at 55+ ($3k/mo passive proof)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66760" y="4114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366760" y="4315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hrs Tokyo to Denpasar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66760" y="45720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366760" y="47731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season Nov-Apr - MISMATCH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66760" y="50292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366760" y="52303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Indonesian / English (expat zones)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6760" y="54864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366760" y="56875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BIMC (SG evac for serious)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366760" y="5989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0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Bali's wet season is exactly when you'd be there. Defeats the seasonal logic.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Flexible retirement — stay free, stay safe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the flexibility, not the calendar. Build optionality with financial cushion.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FLEX MATTERS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shifts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events, kids' lives, parents' health, grandkids — your calendar in year 5 won't be year 1's calendar.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990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Honeymoon vs settle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2644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place feels in week 2 ≠ year 2. Boracay can be paradise OR isolating. Test before committing.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8313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options emerge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410565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programs change, countries open up. Vietnam might launch a real retirement visa. Stay nimble.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672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pivots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9469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Currency, political, healthcare — if conditions degrade in one base, you need the option to leave.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0" y="1554480"/>
            <a:ext cx="3657600" cy="457200"/>
          </a:xfrm>
          <a:prstGeom prst="rect">
            <a:avLst/>
          </a:prstGeom>
          <a:solidFill>
            <a:srgbClr val="2C9F6B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GUARDRAILS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2148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buy property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4231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in both bases for 3-5 yrs minimum. Property locks you in financially AND emotionally.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6280" y="2990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visa options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26280" y="32644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 citizenship + PH SRRV + JP visa-free + TH LTR (if needed). Multiple keys, never trapped.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26280" y="38313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buffer 1-2 yrs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10565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1-2 years of spending in cash. Lets you pivot without forced asset sales.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26280" y="4672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commitments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26280" y="49469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Japan Business Manager, skip Vietnam DT investor. Don't turn retirement into a job.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26280" y="5513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9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review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57881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October, recalibrate. Not married to any plan.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38160" y="1554480"/>
            <a:ext cx="3657600" cy="4846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0" y="1554480"/>
            <a:ext cx="3657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SAFETY NET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66760" y="2148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spend buffer @ 60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66760" y="24231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SAFE mode: ~$100k+ cushion at 401k unlock. Absorbs unexpected costs.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66760" y="2990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spend buffer @ 67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66760" y="32644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~$150k cushion at SS claim. Two layers of safety before you draw down.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66760" y="38313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±20% spend tolerance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66760" y="410565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tab shows the plan absorbs 20% spend swings without breaking. Pivot rooms.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66760" y="4672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country options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66760" y="49469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 cheaper or different country available. From $30k Boracay to $120k Singapore.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66760" y="5513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 citizenship = ultimate fallback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66760" y="57881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$42k/yr base, NHI, no visa, no friction. The "everything fails" parachute.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the seasonal calendar is the starting hypothesis. Year 1 is data collection. By year 3 you'll know the real shape.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B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these numbers were built - and what they assume.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FIRE-Dashboard.html canonical (calc/fireCalculator.js -&gt; solveFireAge), SAFE mode.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basis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Boss's RR Dashboard: $473k net worth, $42.6k/yr contributions, 7% nominal, 3% inflation, plan to age 100.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public + supplementary private. NHI in Taiwan/Japan; ACA/Medicare US.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Cost-of-living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Numbeo, Expatistan, Pacific Prime, Asia Lifestyle Magazine.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research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4389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immigration sites + TW citizenship + Compatriot Pass (CN). JP Biz Mgr Oct 2025 reform.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plan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5029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Pro-rated 6mo each + transit. &lt;180 days = no tax residency. Weather-aligned: Japan Apr-Sep / tropical Oct-Mar.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669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frame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5669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USD (today's purchasing power). Multiply ~5.5x for nominal Book Value at age 100.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Boss-Country-FIRE-Analysis.xlsx (6 tabs) - Boss-Country-FIRE-Deck.pptx (23 slides) - runners (.mjs) + JSON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Boss Country FIRE + Visa Comparison</dc:title>
  <dc:subject>PptxGenJS Presentation</dc:subject>
  <dc:creator>Lexi (for Boss)</dc:creator>
  <cp:lastModifiedBy>Lexi (for Boss)</cp:lastModifiedBy>
  <cp:revision>1</cp:revision>
  <dcterms:created xsi:type="dcterms:W3CDTF">2026-05-05T20:06:06Z</dcterms:created>
  <dcterms:modified xsi:type="dcterms:W3CDTF">2026-05-05T20:06:06Z</dcterms:modified>
</cp:coreProperties>
</file>